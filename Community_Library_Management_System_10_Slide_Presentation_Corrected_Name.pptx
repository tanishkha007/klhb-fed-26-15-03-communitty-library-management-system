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83879" y="0"/>
            <a:ext cx="4005072" cy="6858000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23960" y="914400"/>
            <a:ext cx="2240280" cy="2240280"/>
          </a:xfrm>
          <a:prstGeom prst="round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0" y="1234440"/>
            <a:ext cx="1600200" cy="1600200"/>
          </a:xfrm>
          <a:prstGeom prst="round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45168" y="1572768"/>
            <a:ext cx="384048" cy="960120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02368" y="1572768"/>
            <a:ext cx="384048" cy="960120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17736" y="2532888"/>
            <a:ext cx="914400" cy="73152"/>
          </a:xfrm>
          <a:prstGeom prst="rect">
            <a:avLst/>
          </a:prstGeom>
          <a:solidFill>
            <a:srgbClr val="19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6949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EBB24A"/>
                </a:solidFill>
                <a:latin typeface="Aptos"/>
              </a:rPr>
              <a:t>PSPJ  •  I-I SEMESTER  • 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704088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COMMUNITY LIBRARY</a:t>
            </a:r>
          </a:p>
          <a:p>
            <a:pPr algn="l">
              <a:spcAft>
                <a:spcPts val="7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54680"/>
            <a:ext cx="6583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0" i="0">
                <a:solidFill>
                  <a:srgbClr val="DAE4F0"/>
                </a:solidFill>
                <a:latin typeface="Aptos"/>
              </a:rPr>
              <a:t>A Java-Based Console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3977639"/>
            <a:ext cx="685800" cy="54864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425196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CDD9E9"/>
                </a:solidFill>
                <a:latin typeface="Aptos"/>
              </a:rP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590288"/>
            <a:ext cx="6309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Tanishkha Nalluri  •  2620030685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P D.N.S. Samhitha  •  2620040154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5806440"/>
            <a:ext cx="6309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CDD9E9"/>
                </a:solidFill>
                <a:latin typeface="Aptos"/>
              </a:rPr>
              <a:t>Department of FED  |  PSPJ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CDD9E9"/>
                </a:solidFill>
                <a:latin typeface="Aptos"/>
              </a:rPr>
              <a:t>Guided by Dr. K. Sreeram Murthy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3918B"/>
                </a:solidFill>
                <a:latin typeface="Aptos"/>
              </a:rPr>
              <a:t>01 •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 i="0">
                <a:solidFill>
                  <a:srgbClr val="192B4C"/>
                </a:solidFill>
                <a:latin typeface="Aptos"/>
              </a:rPr>
              <a:t>Why a community library system?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685800" cy="50292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 i="0">
                <a:solidFill>
                  <a:srgbClr val="657182"/>
                </a:solidFill>
                <a:latin typeface="Aptos"/>
              </a:rPr>
              <a:t>02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657182"/>
                </a:solidFill>
                <a:latin typeface="Aptos"/>
              </a:rPr>
              <a:t>COMMUNITY LIBRARY MANAGEMENT SYSTEM  •  PSPJ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192B4C"/>
                </a:solidFill>
                <a:latin typeface="Aptos"/>
              </a:rPr>
              <a:t>Small community libraries need a simple way to organise books and track lending activity.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423160"/>
            <a:ext cx="82296" cy="2240280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58775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Manual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99232"/>
            <a:ext cx="3090672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A3240"/>
                </a:solidFill>
                <a:latin typeface="Aptos"/>
              </a:rPr>
              <a:t>Paper registers and spreadsheets can be slow to update and difficult to search.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42316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423160"/>
            <a:ext cx="82296" cy="2240280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58775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Common difficulties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99232"/>
            <a:ext cx="3090672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A3240"/>
                </a:solidFill>
                <a:latin typeface="Aptos"/>
              </a:rPr>
              <a:t>Book availability may be unclear; records can be misplaced; updates can contain human errors.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42316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5864" y="2423160"/>
            <a:ext cx="82296" cy="2240280"/>
          </a:xfrm>
          <a:prstGeom prst="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58775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Our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999232"/>
            <a:ext cx="3090672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A3240"/>
                </a:solidFill>
                <a:latin typeface="Aptos"/>
              </a:rPr>
              <a:t>A menu-driven Java console application for adding, viewing, searching, issuing and returning books.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0844784" cy="749808"/>
          </a:xfrm>
          <a:prstGeom prst="round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85232"/>
            <a:ext cx="10332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Project aim: make routine library book management simpler, faster and more organised.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3918B"/>
                </a:solidFill>
                <a:latin typeface="Aptos"/>
              </a:rPr>
              <a:t>02 •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 i="0">
                <a:solidFill>
                  <a:srgbClr val="192B4C"/>
                </a:solidFill>
                <a:latin typeface="Aptos"/>
              </a:rPr>
              <a:t>Objectives and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685800" cy="50292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 i="0">
                <a:solidFill>
                  <a:srgbClr val="657182"/>
                </a:solidFill>
                <a:latin typeface="Aptos"/>
              </a:rPr>
              <a:t>03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657182"/>
                </a:solidFill>
                <a:latin typeface="Aptos"/>
              </a:rPr>
              <a:t>COMMUNITY LIBRARY MANAGEMENT SYSTEM  •  PSPJ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6400800" cy="43891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A3240"/>
                </a:solidFill>
                <a:latin typeface="Aptos"/>
              </a:rPr>
              <a:t>•  Maintain a digital catalogue of books with ID, title, author and availability status.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A3240"/>
                </a:solidFill>
                <a:latin typeface="Aptos"/>
              </a:rPr>
              <a:t>•  Allow the librarian to add books and view the current catalogue.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A3240"/>
                </a:solidFill>
                <a:latin typeface="Aptos"/>
              </a:rPr>
              <a:t>•  Search titles using all or part of a title, without case sensitivity.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A3240"/>
                </a:solidFill>
                <a:latin typeface="Aptos"/>
              </a:rPr>
              <a:t>•  Track book issue and return status and report invalid repeat actions.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A3240"/>
                </a:solidFill>
                <a:latin typeface="Aptos"/>
              </a:rPr>
              <a:t>•  Demonstrate core Java concepts through a practical, real-life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627632"/>
            <a:ext cx="3703320" cy="4023360"/>
          </a:xfrm>
          <a:prstGeom prst="roundRect">
            <a:avLst/>
          </a:prstGeom>
          <a:solidFill>
            <a:srgbClr val="E1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938528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 i="0">
                <a:solidFill>
                  <a:srgbClr val="23918B"/>
                </a:solidFill>
                <a:latin typeface="Aptos"/>
              </a:rPr>
              <a:t>THE 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514600"/>
            <a:ext cx="2926080" cy="2331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900" b="1" i="0">
                <a:solidFill>
                  <a:srgbClr val="192B4C"/>
                </a:solidFill>
                <a:latin typeface="Aptos"/>
              </a:rPr>
              <a:t>Book record</a:t>
            </a:r>
          </a:p>
          <a:p>
            <a:pPr algn="ctr">
              <a:spcAft>
                <a:spcPts val="700"/>
              </a:spcAft>
            </a:pPr>
            <a:r>
              <a:rPr sz="1900" b="1" i="0">
                <a:solidFill>
                  <a:srgbClr val="192B4C"/>
                </a:solidFill>
                <a:latin typeface="Aptos"/>
              </a:rPr>
              <a:t>↓</a:t>
            </a:r>
          </a:p>
          <a:p>
            <a:pPr algn="ctr">
              <a:spcAft>
                <a:spcPts val="700"/>
              </a:spcAft>
            </a:pPr>
            <a:r>
              <a:rPr sz="1900" b="1" i="0">
                <a:solidFill>
                  <a:srgbClr val="192B4C"/>
                </a:solidFill>
                <a:latin typeface="Aptos"/>
              </a:rPr>
              <a:t>Menu choice</a:t>
            </a:r>
          </a:p>
          <a:p>
            <a:pPr algn="ctr">
              <a:spcAft>
                <a:spcPts val="700"/>
              </a:spcAft>
            </a:pPr>
            <a:r>
              <a:rPr sz="1900" b="1" i="0">
                <a:solidFill>
                  <a:srgbClr val="192B4C"/>
                </a:solidFill>
                <a:latin typeface="Aptos"/>
              </a:rPr>
              <a:t>↓</a:t>
            </a:r>
          </a:p>
          <a:p>
            <a:pPr algn="ctr">
              <a:spcAft>
                <a:spcPts val="700"/>
              </a:spcAft>
            </a:pPr>
            <a:r>
              <a:rPr sz="1900" b="1" i="0">
                <a:solidFill>
                  <a:srgbClr val="192B4C"/>
                </a:solidFill>
                <a:latin typeface="Aptos"/>
              </a:rPr>
              <a:t>Action on the book list</a:t>
            </a:r>
          </a:p>
          <a:p>
            <a:pPr algn="ctr">
              <a:spcAft>
                <a:spcPts val="700"/>
              </a:spcAft>
            </a:pPr>
            <a:r>
              <a:rPr sz="1900" b="1" i="0">
                <a:solidFill>
                  <a:srgbClr val="192B4C"/>
                </a:solidFill>
                <a:latin typeface="Aptos"/>
              </a:rPr>
              <a:t>↓</a:t>
            </a:r>
          </a:p>
          <a:p>
            <a:pPr algn="ctr">
              <a:spcAft>
                <a:spcPts val="700"/>
              </a:spcAft>
            </a:pPr>
            <a:r>
              <a:rPr sz="1900" b="1" i="0">
                <a:solidFill>
                  <a:srgbClr val="192B4C"/>
                </a:solidFill>
                <a:latin typeface="Aptos"/>
              </a:rPr>
              <a:t>Clear result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5074920"/>
            <a:ext cx="32461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 i="0">
                <a:solidFill>
                  <a:srgbClr val="657182"/>
                </a:solidFill>
                <a:latin typeface="Aptos"/>
              </a:rPr>
              <a:t>The application is designed to run on a basic computer without requiring internet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3918B"/>
                </a:solidFill>
                <a:latin typeface="Aptos"/>
              </a:rPr>
              <a:t>03 •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 i="0">
                <a:solidFill>
                  <a:srgbClr val="192B4C"/>
                </a:solidFill>
                <a:latin typeface="Aptos"/>
              </a:rPr>
              <a:t>Technology and Java roadmap: Weeks 1–4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685800" cy="50292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 i="0">
                <a:solidFill>
                  <a:srgbClr val="657182"/>
                </a:solidFill>
                <a:latin typeface="Aptos"/>
              </a:rPr>
              <a:t>04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657182"/>
                </a:solidFill>
                <a:latin typeface="Aptos"/>
              </a:rPr>
              <a:t>COMMUNITY LIBRARY MANAGEMENT SYSTEM  •  PSPJ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82296" cy="1508760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Week 1 •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30552"/>
            <a:ext cx="3090672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Java program structure and the problem-solving approach.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5448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554480"/>
            <a:ext cx="82296" cy="1508760"/>
          </a:xfrm>
          <a:prstGeom prst="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1907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Week 2 • Data &amp; expressions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30552"/>
            <a:ext cx="3090672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Book ID, title, author and boolean availability represent book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55448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554480"/>
            <a:ext cx="82296" cy="1508760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71907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Week 3 • 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130552"/>
            <a:ext cx="3090672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if-else and switch choices support menu actions and availability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3756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337560"/>
            <a:ext cx="82296" cy="1508760"/>
          </a:xfrm>
          <a:prstGeom prst="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50215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Week 4 • Iteration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913632"/>
            <a:ext cx="3090672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Loops keep the menu running and help process the book list.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33756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337560"/>
            <a:ext cx="82296" cy="1508760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50215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Technology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913632"/>
            <a:ext cx="3090672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Java console application with Scanner for user input.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333756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4" y="3337560"/>
            <a:ext cx="82296" cy="1508760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2" y="350215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Program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3913632"/>
            <a:ext cx="3090672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Choose an option → execute the action → show a result → continue or exit.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49240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1">
                <a:solidFill>
                  <a:srgbClr val="657182"/>
                </a:solidFill>
                <a:latin typeface="Aptos"/>
              </a:rPr>
              <a:t>These concepts are described in the project thesis and abstract.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3918B"/>
                </a:solidFill>
                <a:latin typeface="Aptos"/>
              </a:rPr>
              <a:t>04 •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 i="0">
                <a:solidFill>
                  <a:srgbClr val="192B4C"/>
                </a:solidFill>
                <a:latin typeface="Aptos"/>
              </a:rPr>
              <a:t>System modules and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685800" cy="50292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 i="0">
                <a:solidFill>
                  <a:srgbClr val="657182"/>
                </a:solidFill>
                <a:latin typeface="Aptos"/>
              </a:rPr>
              <a:t>05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657182"/>
                </a:solidFill>
                <a:latin typeface="Aptos"/>
              </a:rPr>
              <a:t>COMMUNITY LIBRARY MANAGEMENT SYSTEM  •  PSPJ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82296" cy="1508760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1  Add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30552"/>
            <a:ext cx="3090672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Enter ID, title and author; create a Book object.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5448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554480"/>
            <a:ext cx="82296" cy="1508760"/>
          </a:xfrm>
          <a:prstGeom prst="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1907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2  View Books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30552"/>
            <a:ext cx="3090672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Show each book and its current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55448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554480"/>
            <a:ext cx="82296" cy="1508760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71907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3  Search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130552"/>
            <a:ext cx="3090672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Find titles using a case-insensitive partial match.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2900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429000"/>
            <a:ext cx="82296" cy="1508760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59359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4  Issue 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005072"/>
            <a:ext cx="3090672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Issue only if the book is available.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42900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429000"/>
            <a:ext cx="82296" cy="1508760"/>
          </a:xfrm>
          <a:prstGeom prst="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59359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5  Return Book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05072"/>
            <a:ext cx="3090672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Return only if the book is currently issued.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3429000"/>
            <a:ext cx="3474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4" y="3429000"/>
            <a:ext cx="82296" cy="1508760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2" y="359359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6  Exit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4005072"/>
            <a:ext cx="3090672" cy="8229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Close the application with a message.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4068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 i="0">
                <a:solidFill>
                  <a:srgbClr val="192B4C"/>
                </a:solidFill>
                <a:latin typeface="Aptos"/>
              </a:rPr>
              <a:t>The six options are presented through a numbered console menu.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3918B"/>
                </a:solidFill>
                <a:latin typeface="Aptos"/>
              </a:rPr>
              <a:t>05 • JAVA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 i="0">
                <a:solidFill>
                  <a:srgbClr val="192B4C"/>
                </a:solidFill>
                <a:latin typeface="Aptos"/>
              </a:rPr>
              <a:t>Connecting the project to Weeks 5–8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685800" cy="50292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 i="0">
                <a:solidFill>
                  <a:srgbClr val="657182"/>
                </a:solidFill>
                <a:latin typeface="Aptos"/>
              </a:rPr>
              <a:t>06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657182"/>
                </a:solidFill>
                <a:latin typeface="Aptos"/>
              </a:rPr>
              <a:t>COMMUNITY LIBRARY MANAGEMENT SYSTEM  •  PSPJ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257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82296" cy="1417320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4873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Week 5 •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30552"/>
            <a:ext cx="487375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A3240"/>
                </a:solidFill>
                <a:latin typeface="Aptos"/>
              </a:rPr>
              <a:t>Separate methods handle add, view, search, issue and return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257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82296" cy="1417320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719072"/>
            <a:ext cx="4873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Week 6 • Arrays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30552"/>
            <a:ext cx="487375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A3240"/>
                </a:solidFill>
                <a:latin typeface="Aptos"/>
              </a:rPr>
              <a:t>Arrays are part of the course roadmap; the thesis specifies ArrayList&lt;Book&gt; for the dynamic catalogue.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46120"/>
            <a:ext cx="5257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246120"/>
            <a:ext cx="82296" cy="1417320"/>
          </a:xfrm>
          <a:prstGeom prst="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410712"/>
            <a:ext cx="4873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Week 7 • Classes &amp; objects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822191"/>
            <a:ext cx="487375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A3240"/>
                </a:solidFill>
                <a:latin typeface="Aptos"/>
              </a:rPr>
              <a:t>Each book is represented by a Book object containing its data and availability.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46120"/>
            <a:ext cx="5257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246120"/>
            <a:ext cx="82296" cy="1417320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410712"/>
            <a:ext cx="4873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Week 8 • Inheritance &amp; abstraction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822191"/>
            <a:ext cx="4873752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Useful OOP topics to understand; inheritance and abstraction are not identified as core implemented features in the thesis.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074920"/>
            <a:ext cx="10744200" cy="640080"/>
          </a:xfrm>
          <a:prstGeom prst="roundRect">
            <a:avLst/>
          </a:prstGeom>
          <a:solidFill>
            <a:srgbClr val="FBF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93792"/>
            <a:ext cx="10332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A3240"/>
                </a:solidFill>
                <a:latin typeface="Aptos"/>
              </a:rPr>
              <a:t>Week 8 continued: contracts, generics &amp; failure — ArrayList&lt;Book&gt; uses a generic type; invalid issue/return actions are handled with messages. Other contract/failure mechanisms need code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3918B"/>
                </a:solidFill>
                <a:latin typeface="Aptos"/>
              </a:rPr>
              <a:t>06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 i="0">
                <a:solidFill>
                  <a:srgbClr val="192B4C"/>
                </a:solidFill>
                <a:latin typeface="Aptos"/>
              </a:rPr>
              <a:t>How the application works: Weeks 9–12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685800" cy="50292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 i="0">
                <a:solidFill>
                  <a:srgbClr val="657182"/>
                </a:solidFill>
                <a:latin typeface="Aptos"/>
              </a:rPr>
              <a:t>07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657182"/>
                </a:solidFill>
                <a:latin typeface="Aptos"/>
              </a:rPr>
              <a:t>COMMUNITY LIBRARY MANAGEMENT SYSTEM  •  PSPJ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514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1938528"/>
            <a:ext cx="475488" cy="475488"/>
          </a:xfrm>
          <a:prstGeom prst="round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93392"/>
            <a:ext cx="4754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65960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06040"/>
            <a:ext cx="21031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Scanner reads the menu choice and book details.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395728"/>
            <a:ext cx="320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 i="0">
                <a:solidFill>
                  <a:srgbClr val="EBB24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1737360"/>
            <a:ext cx="2514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66744" y="1938528"/>
            <a:ext cx="475488" cy="475488"/>
          </a:xfrm>
          <a:prstGeom prst="round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1993392"/>
            <a:ext cx="4754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1965960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606040"/>
            <a:ext cx="21031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switch selects the requested operation.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395728"/>
            <a:ext cx="320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 i="0">
                <a:solidFill>
                  <a:srgbClr val="EBB24A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1737360"/>
            <a:ext cx="2514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83096" y="1938528"/>
            <a:ext cx="475488" cy="475488"/>
          </a:xfrm>
          <a:prstGeom prst="round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1993392"/>
            <a:ext cx="4754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5744" y="1965960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606040"/>
            <a:ext cx="21031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A method works with the shared ArrayList&lt;Book&gt;.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2395728"/>
            <a:ext cx="320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 i="0">
                <a:solidFill>
                  <a:srgbClr val="EBB24A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6" y="1737360"/>
            <a:ext cx="2514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99448" y="1938528"/>
            <a:ext cx="475488" cy="475488"/>
          </a:xfrm>
          <a:prstGeom prst="round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1993392"/>
            <a:ext cx="4754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1965960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2606040"/>
            <a:ext cx="21031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A3240"/>
                </a:solidFill>
                <a:latin typeface="Aptos"/>
              </a:rPr>
              <a:t>The console shows the catalogue or a status message.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160520"/>
            <a:ext cx="34747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160520"/>
            <a:ext cx="82296" cy="1234440"/>
          </a:xfrm>
          <a:prstGeom prst="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32511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Week 9 • Strings &amp; library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736592"/>
            <a:ext cx="309067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A3240"/>
                </a:solidFill>
                <a:latin typeface="Aptos"/>
              </a:rPr>
              <a:t>Title matching uses a case-insensitive partial search.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4160520"/>
            <a:ext cx="34747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2" y="4160520"/>
            <a:ext cx="82296" cy="1234440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432511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Week 10 • Files &amp; persistence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736592"/>
            <a:ext cx="309067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A3240"/>
                </a:solidFill>
                <a:latin typeface="Aptos"/>
              </a:rPr>
              <a:t>File saving is future scope; the thesis does not claim persistence yet.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55864" y="4160520"/>
            <a:ext cx="34747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55864" y="4160520"/>
            <a:ext cx="82296" cy="1234440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7032" y="432511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Weeks 11–12 • Collections, streams &amp; go-live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2" y="4736592"/>
            <a:ext cx="309067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A3240"/>
                </a:solidFill>
                <a:latin typeface="Aptos"/>
              </a:rPr>
              <a:t>ArrayList is used; stream usage and deployment should be confirmed from code.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6928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1">
                <a:solidFill>
                  <a:srgbClr val="657182"/>
                </a:solidFill>
                <a:latin typeface="Aptos"/>
              </a:rPr>
              <a:t>Current thesis describes book data tracked during a program session.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3918B"/>
                </a:solidFill>
                <a:latin typeface="Aptos"/>
              </a:rPr>
              <a:t>07 •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 i="0">
                <a:solidFill>
                  <a:srgbClr val="192B4C"/>
                </a:solidFill>
                <a:latin typeface="Aptos"/>
              </a:rPr>
              <a:t>Testing plan and expected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685800" cy="50292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 i="0">
                <a:solidFill>
                  <a:srgbClr val="657182"/>
                </a:solidFill>
                <a:latin typeface="Aptos"/>
              </a:rPr>
              <a:t>08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657182"/>
                </a:solidFill>
                <a:latin typeface="Aptos"/>
              </a:rPr>
              <a:t>COMMUNITY LIBRARY MANAGEMENT SYSTEM  •  PSPJ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1920240" cy="384048"/>
          </a:xfrm>
          <a:prstGeom prst="rect">
            <a:avLst/>
          </a:prstGeom>
          <a:solidFill>
            <a:srgbClr val="19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81912"/>
            <a:ext cx="1737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508760"/>
            <a:ext cx="3566160" cy="384048"/>
          </a:xfrm>
          <a:prstGeom prst="rect">
            <a:avLst/>
          </a:prstGeom>
          <a:solidFill>
            <a:srgbClr val="19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581912"/>
            <a:ext cx="33832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INPUT /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508760"/>
            <a:ext cx="4983480" cy="384048"/>
          </a:xfrm>
          <a:prstGeom prst="rect">
            <a:avLst/>
          </a:prstGeom>
          <a:solidFill>
            <a:srgbClr val="19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581912"/>
            <a:ext cx="4800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947672"/>
            <a:ext cx="1920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020824"/>
            <a:ext cx="17373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2A3240"/>
                </a:solidFill>
                <a:latin typeface="Aptos"/>
              </a:rPr>
              <a:t>Add a 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947672"/>
            <a:ext cx="35661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52928" y="2020824"/>
            <a:ext cx="3383279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2A3240"/>
                </a:solidFill>
                <a:latin typeface="Aptos"/>
              </a:rPr>
              <a:t>Enter a new ID, title and author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1947672"/>
            <a:ext cx="4983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020824"/>
            <a:ext cx="48006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2A3240"/>
                </a:solidFill>
                <a:latin typeface="Aptos"/>
              </a:rPr>
              <a:t>Book appears in the catalogue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578608"/>
            <a:ext cx="1920240" cy="566928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2651760"/>
            <a:ext cx="17373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2A3240"/>
                </a:solidFill>
                <a:latin typeface="Aptos"/>
              </a:rPr>
              <a:t>View books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578608"/>
            <a:ext cx="3566160" cy="566928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2928" y="2651760"/>
            <a:ext cx="3383279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2A3240"/>
                </a:solidFill>
                <a:latin typeface="Aptos"/>
              </a:rPr>
              <a:t>Select View Books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578608"/>
            <a:ext cx="4983480" cy="566928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2651760"/>
            <a:ext cx="48006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2A3240"/>
                </a:solidFill>
                <a:latin typeface="Aptos"/>
              </a:rPr>
              <a:t>All stored books and statuses display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209544"/>
            <a:ext cx="1920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282696"/>
            <a:ext cx="17373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2A3240"/>
                </a:solidFill>
                <a:latin typeface="Aptos"/>
              </a:rPr>
              <a:t>Search title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209544"/>
            <a:ext cx="35661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52928" y="3282696"/>
            <a:ext cx="3383279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2A3240"/>
                </a:solidFill>
                <a:latin typeface="Aptos"/>
              </a:rPr>
              <a:t>Enter a full or partial title in different 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209544"/>
            <a:ext cx="4983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3282696"/>
            <a:ext cx="48006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2A3240"/>
                </a:solidFill>
                <a:latin typeface="Aptos"/>
              </a:rPr>
              <a:t>Matching titles display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840479"/>
            <a:ext cx="1920240" cy="566928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3913631"/>
            <a:ext cx="17373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2A3240"/>
                </a:solidFill>
                <a:latin typeface="Aptos"/>
              </a:rPr>
              <a:t>Issue available book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840479"/>
            <a:ext cx="3566160" cy="566928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52928" y="3913631"/>
            <a:ext cx="3383279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2A3240"/>
                </a:solidFill>
                <a:latin typeface="Aptos"/>
              </a:rPr>
              <a:t>Enter an available Book 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3840479"/>
            <a:ext cx="4983480" cy="566928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3913631"/>
            <a:ext cx="48006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2A3240"/>
                </a:solidFill>
                <a:latin typeface="Aptos"/>
              </a:rPr>
              <a:t>Status changes to Issued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471416"/>
            <a:ext cx="1920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4544568"/>
            <a:ext cx="17373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2A3240"/>
                </a:solidFill>
                <a:latin typeface="Aptos"/>
              </a:rPr>
              <a:t>Issue already-issued book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471416"/>
            <a:ext cx="35661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52928" y="4544568"/>
            <a:ext cx="3383279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2A3240"/>
                </a:solidFill>
                <a:latin typeface="Aptos"/>
              </a:rPr>
              <a:t>Try to issue it again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471416"/>
            <a:ext cx="4983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6248" y="4544568"/>
            <a:ext cx="48006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2A3240"/>
                </a:solidFill>
                <a:latin typeface="Aptos"/>
              </a:rPr>
              <a:t>System reports it is already issued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5102352"/>
            <a:ext cx="1920240" cy="566928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5175504"/>
            <a:ext cx="17373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2A3240"/>
                </a:solidFill>
                <a:latin typeface="Aptos"/>
              </a:rPr>
              <a:t>Return book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5102352"/>
            <a:ext cx="3566160" cy="566928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52928" y="5175504"/>
            <a:ext cx="3383279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2A3240"/>
                </a:solidFill>
                <a:latin typeface="Aptos"/>
              </a:rPr>
              <a:t>Return an issued book; also try a never-issued book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5102352"/>
            <a:ext cx="4983480" cy="566928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6248" y="5175504"/>
            <a:ext cx="480060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2A3240"/>
                </a:solidFill>
                <a:latin typeface="Aptos"/>
              </a:rPr>
              <a:t>Valid return becomes Available; invalid return is reported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989320"/>
            <a:ext cx="10698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3918B"/>
                </a:solidFill>
                <a:latin typeface="Aptos"/>
              </a:rPr>
              <a:t>After running the program, replace expected results with actual results and add screenshots as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 i="0">
                <a:solidFill>
                  <a:srgbClr val="23918B"/>
                </a:solidFill>
                <a:latin typeface="Aptos"/>
              </a:rPr>
              <a:t>08 • TEAM &amp;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 i="0">
                <a:solidFill>
                  <a:srgbClr val="192B4C"/>
                </a:solidFill>
                <a:latin typeface="Aptos"/>
              </a:rPr>
              <a:t>Team contribution and 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685800" cy="50292"/>
          </a:xfrm>
          <a:prstGeom prst="rect">
            <a:avLst/>
          </a:prstGeom>
          <a:solidFill>
            <a:srgbClr val="EBB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 i="0">
                <a:solidFill>
                  <a:srgbClr val="657182"/>
                </a:solidFill>
                <a:latin typeface="Aptos"/>
              </a:rPr>
              <a:t>09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858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657182"/>
                </a:solidFill>
                <a:latin typeface="Aptos"/>
              </a:rPr>
              <a:t>COMMUNITY LIBRARY MANAGEMENT SYSTEM  •  PSPJ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82296" cy="1965960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64792"/>
            <a:ext cx="4873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Tanishkha Nalluri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487375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A3240"/>
                </a:solidFill>
                <a:latin typeface="Aptos"/>
              </a:rPr>
              <a:t>Student 1 • CSE, Section 15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A3240"/>
                </a:solidFill>
                <a:latin typeface="Aptos"/>
              </a:rPr>
              <a:t>Roll No. 2620030685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A3240"/>
                </a:solidFill>
                <a:latin typeface="Aptos"/>
              </a:rPr>
              <a:t>Suggested focus: explain program flow, menu options and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82296" cy="1965960"/>
          </a:xfrm>
          <a:prstGeom prst="rect">
            <a:avLst/>
          </a:prstGeom>
          <a:solidFill>
            <a:srgbClr val="23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764792"/>
            <a:ext cx="48737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192B4C"/>
                </a:solidFill>
                <a:latin typeface="Aptos"/>
              </a:rPr>
              <a:t>P D.N.S. Samhitha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76272"/>
            <a:ext cx="4873752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A3240"/>
                </a:solidFill>
                <a:latin typeface="Aptos"/>
              </a:rPr>
              <a:t>Student 2 • ECE, Section 15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A3240"/>
                </a:solidFill>
                <a:latin typeface="Aptos"/>
              </a:rPr>
              <a:t>Roll No. 2620040154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2A3240"/>
                </a:solidFill>
                <a:latin typeface="Aptos"/>
              </a:rPr>
              <a:t>Suggested focus: explain Book objects, collection and feature demonstrations.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192B4C"/>
                </a:solidFill>
                <a:latin typeface="Aptos"/>
              </a:rPr>
              <a:t>Shared team understanding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10424160" cy="1508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A3240"/>
                </a:solidFill>
                <a:latin typeface="Aptos"/>
              </a:rPr>
              <a:t>•  Both members should be able to explain all six menu options.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A3240"/>
                </a:solidFill>
                <a:latin typeface="Aptos"/>
              </a:rPr>
              <a:t>•  Understand how availability changes when a book is issued or returned.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A3240"/>
                </a:solidFill>
                <a:latin typeface="Aptos"/>
              </a:rPr>
              <a:t>•  Be ready to describe the ArrayList, methods, loops, conditions and search logic.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A3240"/>
                </a:solidFill>
                <a:latin typeface="Aptos"/>
              </a:rPr>
              <a:t>•  Use real test runs and screenshots to support the explanation.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669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EBB24A"/>
                </a:solidFill>
                <a:latin typeface="Aptos"/>
              </a:rPr>
              <a:t>CONCLUSION  • 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40080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A small system for a</a:t>
            </a:r>
          </a:p>
          <a:p>
            <a:pPr algn="l">
              <a:spcAft>
                <a:spcPts val="7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real community need.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612648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 i="0">
                <a:solidFill>
                  <a:srgbClr val="DEE7F3"/>
                </a:solidFill>
                <a:latin typeface="Aptos"/>
              </a:rPr>
              <a:t>The current project supports adding, viewing, searching, issuing and returning books through a Java console menu.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914400"/>
            <a:ext cx="3931920" cy="4526280"/>
          </a:xfrm>
          <a:prstGeom prst="round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325880"/>
            <a:ext cx="3200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EBB24A"/>
                </a:solidFill>
                <a:latin typeface="Aptos"/>
              </a:rPr>
              <a:t>POSSIBLE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874519"/>
            <a:ext cx="3108960" cy="2560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Aptos"/>
              </a:rPr>
              <a:t>•  Member registration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Aptos"/>
              </a:rPr>
              <a:t>•  Save records using file handling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Aptos"/>
              </a:rPr>
              <a:t>•  Due dates and fine calculation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FFFFF"/>
                </a:solidFill>
                <a:latin typeface="Aptos"/>
              </a:rPr>
              <a:t>•  A graphical 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3657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400" b="1" i="0">
                <a:solidFill>
                  <a:srgbClr val="EBB24A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6928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Library Management System — Corrected Team Name</dc:title>
  <dc:subject>PSPJ I-I Semester project presentation</dc:subject>
  <dc:creator>Tanishkha Nalluri and P.D.N. Samhitha</dc:creator>
  <cp:keywords>Java, Community Library, Management System, PSPJ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